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14393F-59A6-4434-BD50-E4BFA11A8294}">
  <a:tblStyle styleId="{2114393F-59A6-4434-BD50-E4BFA11A82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0" orient="horz"/>
        <p:guide pos="960" orient="horz"/>
        <p:guide pos="3888" orient="horz"/>
        <p:guide pos="456"/>
        <p:guide pos="729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8" orient="horz"/>
        <p:guide pos="2208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6ae8c77ab_0_1:notes"/>
          <p:cNvSpPr/>
          <p:nvPr>
            <p:ph idx="2" type="sldImg"/>
          </p:nvPr>
        </p:nvSpPr>
        <p:spPr>
          <a:xfrm>
            <a:off x="4064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6ae8c77ab_0_1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6ae8c77ab_0_1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6ae8c77ab_0_18:notes"/>
          <p:cNvSpPr/>
          <p:nvPr>
            <p:ph idx="2" type="sldImg"/>
          </p:nvPr>
        </p:nvSpPr>
        <p:spPr>
          <a:xfrm>
            <a:off x="4064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6ae8c77ab_0_18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6ae8c77ab_0_18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6ae8c77ab_0_32:notes"/>
          <p:cNvSpPr/>
          <p:nvPr>
            <p:ph idx="2" type="sldImg"/>
          </p:nvPr>
        </p:nvSpPr>
        <p:spPr>
          <a:xfrm>
            <a:off x="4064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6ae8c77ab_0_32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6ae8c77ab_0_32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6ae8c77ab_0_38:notes"/>
          <p:cNvSpPr/>
          <p:nvPr>
            <p:ph idx="2" type="sldImg"/>
          </p:nvPr>
        </p:nvSpPr>
        <p:spPr>
          <a:xfrm>
            <a:off x="4064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6ae8c77ab_0_38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6ae8c77ab_0_38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6ae8c77ab_0_55:notes"/>
          <p:cNvSpPr/>
          <p:nvPr>
            <p:ph idx="2" type="sldImg"/>
          </p:nvPr>
        </p:nvSpPr>
        <p:spPr>
          <a:xfrm>
            <a:off x="4064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6ae8c77ab_0_55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6ae8c77ab_0_55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ae8c77ab_0_61:notes"/>
          <p:cNvSpPr/>
          <p:nvPr>
            <p:ph idx="2" type="sldImg"/>
          </p:nvPr>
        </p:nvSpPr>
        <p:spPr>
          <a:xfrm>
            <a:off x="4064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6ae8c77ab_0_61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f6ae8c77ab_0_61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6ae8c77ab_0_71:notes"/>
          <p:cNvSpPr/>
          <p:nvPr>
            <p:ph idx="2" type="sldImg"/>
          </p:nvPr>
        </p:nvSpPr>
        <p:spPr>
          <a:xfrm>
            <a:off x="4064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6ae8c77ab_0_71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6ae8c77ab_0_71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74a30f1ed_0_74:notes"/>
          <p:cNvSpPr/>
          <p:nvPr>
            <p:ph idx="2" type="sldImg"/>
          </p:nvPr>
        </p:nvSpPr>
        <p:spPr>
          <a:xfrm>
            <a:off x="406400" y="696913"/>
            <a:ext cx="61977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74a30f1ed_0_74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74a30f1ed_0_74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y logo with text&#10;&#10;Description automatically generated" id="16" name="Google Shape;16;p2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3810000" y="114300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09600" y="2836309"/>
            <a:ext cx="9144000" cy="1524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  <a:defRPr b="1"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609600" y="4591957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A red letter w on a black background&#10;&#10;Description automatically generated"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2078" y="990600"/>
            <a:ext cx="3393650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y logo with text&#10;&#10;Description automatically generated" id="21" name="Google Shape;21;p3"/>
          <p:cNvPicPr preferRelativeResize="0"/>
          <p:nvPr/>
        </p:nvPicPr>
        <p:blipFill rotWithShape="1">
          <a:blip r:embed="rId3">
            <a:alphaModFix amt="20000"/>
          </a:blip>
          <a:srcRect b="12037" l="0" r="10769" t="0"/>
          <a:stretch/>
        </p:blipFill>
        <p:spPr>
          <a:xfrm>
            <a:off x="8112370" y="2836309"/>
            <a:ext cx="4079630" cy="40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AB16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609600" y="4024064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type="ctrTitle"/>
          </p:nvPr>
        </p:nvSpPr>
        <p:spPr>
          <a:xfrm>
            <a:off x="609600" y="2268416"/>
            <a:ext cx="9144000" cy="1524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  <a:defRPr b="1"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/>
        </p:nvSpPr>
        <p:spPr>
          <a:xfrm>
            <a:off x="-433137" y="436024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ey logo with text&#10;&#10;Description automatically generated" id="27" name="Google Shape;27;p4"/>
          <p:cNvPicPr preferRelativeResize="0"/>
          <p:nvPr/>
        </p:nvPicPr>
        <p:blipFill rotWithShape="1">
          <a:blip r:embed="rId2">
            <a:alphaModFix amt="20000"/>
          </a:blip>
          <a:srcRect b="12037" l="0" r="10769" t="0"/>
          <a:stretch/>
        </p:blipFill>
        <p:spPr>
          <a:xfrm>
            <a:off x="8112370" y="2836309"/>
            <a:ext cx="4079630" cy="40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609600" y="1527048"/>
            <a:ext cx="52832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6299202" y="1527048"/>
            <a:ext cx="52832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/>
          <p:nvPr>
            <p:ph idx="2" type="pic"/>
          </p:nvPr>
        </p:nvSpPr>
        <p:spPr>
          <a:xfrm>
            <a:off x="609600" y="1798655"/>
            <a:ext cx="3560461" cy="2009669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7"/>
          <p:cNvSpPr/>
          <p:nvPr>
            <p:ph idx="3" type="pic"/>
          </p:nvPr>
        </p:nvSpPr>
        <p:spPr>
          <a:xfrm>
            <a:off x="609599" y="3971259"/>
            <a:ext cx="3560461" cy="2009669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7"/>
          <p:cNvSpPr/>
          <p:nvPr>
            <p:ph idx="4" type="pic"/>
          </p:nvPr>
        </p:nvSpPr>
        <p:spPr>
          <a:xfrm>
            <a:off x="4315769" y="1798655"/>
            <a:ext cx="3560461" cy="2009669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7"/>
          <p:cNvSpPr/>
          <p:nvPr>
            <p:ph idx="5" type="pic"/>
          </p:nvPr>
        </p:nvSpPr>
        <p:spPr>
          <a:xfrm>
            <a:off x="4315768" y="3971259"/>
            <a:ext cx="3560461" cy="2009669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7"/>
          <p:cNvSpPr/>
          <p:nvPr>
            <p:ph idx="6" type="pic"/>
          </p:nvPr>
        </p:nvSpPr>
        <p:spPr>
          <a:xfrm>
            <a:off x="8021940" y="1798655"/>
            <a:ext cx="3560461" cy="2009669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7"/>
          <p:cNvSpPr/>
          <p:nvPr>
            <p:ph idx="7" type="pic"/>
          </p:nvPr>
        </p:nvSpPr>
        <p:spPr>
          <a:xfrm>
            <a:off x="8021939" y="3971259"/>
            <a:ext cx="3560461" cy="200966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609600" y="1795464"/>
            <a:ext cx="349109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/>
          <p:nvPr>
            <p:ph idx="2" type="pic"/>
          </p:nvPr>
        </p:nvSpPr>
        <p:spPr>
          <a:xfrm>
            <a:off x="4263325" y="1799550"/>
            <a:ext cx="3578225" cy="201295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8"/>
          <p:cNvSpPr/>
          <p:nvPr>
            <p:ph idx="3" type="pic"/>
          </p:nvPr>
        </p:nvSpPr>
        <p:spPr>
          <a:xfrm>
            <a:off x="4263322" y="3975484"/>
            <a:ext cx="3578225" cy="201295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8"/>
          <p:cNvSpPr/>
          <p:nvPr>
            <p:ph idx="4" type="pic"/>
          </p:nvPr>
        </p:nvSpPr>
        <p:spPr>
          <a:xfrm>
            <a:off x="8004175" y="1795464"/>
            <a:ext cx="3578225" cy="201295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8"/>
          <p:cNvSpPr/>
          <p:nvPr>
            <p:ph idx="5" type="pic"/>
          </p:nvPr>
        </p:nvSpPr>
        <p:spPr>
          <a:xfrm>
            <a:off x="8004172" y="3971398"/>
            <a:ext cx="3578225" cy="20129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7441096" y="1795464"/>
            <a:ext cx="4141304" cy="418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/>
          <p:nvPr>
            <p:ph idx="2" type="pic"/>
          </p:nvPr>
        </p:nvSpPr>
        <p:spPr>
          <a:xfrm>
            <a:off x="609600" y="1795463"/>
            <a:ext cx="6462712" cy="41894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">
  <p:cSld name="5_Title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8091303" y="1795464"/>
            <a:ext cx="3491097" cy="418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0"/>
          <p:cNvSpPr/>
          <p:nvPr>
            <p:ph idx="2" type="pic"/>
          </p:nvPr>
        </p:nvSpPr>
        <p:spPr>
          <a:xfrm>
            <a:off x="609603" y="1799550"/>
            <a:ext cx="3578225" cy="201295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/>
          <p:nvPr>
            <p:ph idx="3" type="pic"/>
          </p:nvPr>
        </p:nvSpPr>
        <p:spPr>
          <a:xfrm>
            <a:off x="609600" y="3975484"/>
            <a:ext cx="3578225" cy="201295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/>
          <p:nvPr>
            <p:ph idx="4" type="pic"/>
          </p:nvPr>
        </p:nvSpPr>
        <p:spPr>
          <a:xfrm>
            <a:off x="4350453" y="1795464"/>
            <a:ext cx="3578225" cy="201295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/>
          <p:nvPr>
            <p:ph idx="5" type="pic"/>
          </p:nvPr>
        </p:nvSpPr>
        <p:spPr>
          <a:xfrm>
            <a:off x="4350450" y="3971398"/>
            <a:ext cx="3578225" cy="20129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609600" y="1798654"/>
            <a:ext cx="3560461" cy="355853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/>
          <p:nvPr>
            <p:ph idx="3" type="pic"/>
          </p:nvPr>
        </p:nvSpPr>
        <p:spPr>
          <a:xfrm>
            <a:off x="4315769" y="1798655"/>
            <a:ext cx="3560461" cy="3558536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1"/>
          <p:cNvSpPr/>
          <p:nvPr>
            <p:ph idx="4" type="pic"/>
          </p:nvPr>
        </p:nvSpPr>
        <p:spPr>
          <a:xfrm>
            <a:off x="8021940" y="1798655"/>
            <a:ext cx="3560461" cy="3558536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609597" y="5396947"/>
            <a:ext cx="3560461" cy="69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/>
        </p:nvSpPr>
        <p:spPr>
          <a:xfrm>
            <a:off x="5327374" y="53969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1"/>
          <p:cNvSpPr txBox="1"/>
          <p:nvPr>
            <p:ph idx="5" type="body"/>
          </p:nvPr>
        </p:nvSpPr>
        <p:spPr>
          <a:xfrm>
            <a:off x="4315769" y="5396947"/>
            <a:ext cx="3560461" cy="69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6" type="body"/>
          </p:nvPr>
        </p:nvSpPr>
        <p:spPr>
          <a:xfrm>
            <a:off x="8021939" y="5396947"/>
            <a:ext cx="3560461" cy="69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Only">
  <p:cSld name="4_Title 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09597" y="5396947"/>
            <a:ext cx="3560461" cy="69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315769" y="5396947"/>
            <a:ext cx="3560461" cy="69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3" type="body"/>
          </p:nvPr>
        </p:nvSpPr>
        <p:spPr>
          <a:xfrm>
            <a:off x="8021939" y="5396947"/>
            <a:ext cx="3560461" cy="69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/>
          <p:nvPr>
            <p:ph idx="4" type="chart"/>
          </p:nvPr>
        </p:nvSpPr>
        <p:spPr>
          <a:xfrm>
            <a:off x="609600" y="1798638"/>
            <a:ext cx="3560763" cy="355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2"/>
          <p:cNvSpPr/>
          <p:nvPr>
            <p:ph idx="5" type="chart"/>
          </p:nvPr>
        </p:nvSpPr>
        <p:spPr>
          <a:xfrm>
            <a:off x="4315617" y="1798014"/>
            <a:ext cx="3560763" cy="355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2"/>
          <p:cNvSpPr/>
          <p:nvPr>
            <p:ph idx="6" type="chart"/>
          </p:nvPr>
        </p:nvSpPr>
        <p:spPr>
          <a:xfrm>
            <a:off x="8021634" y="1798014"/>
            <a:ext cx="3560763" cy="355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and Content">
  <p:cSld name="6_Title and Conte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609600" y="1795464"/>
            <a:ext cx="4141304" cy="418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4"/>
          <p:cNvSpPr/>
          <p:nvPr>
            <p:ph idx="2" type="chart"/>
          </p:nvPr>
        </p:nvSpPr>
        <p:spPr>
          <a:xfrm>
            <a:off x="5119688" y="1795463"/>
            <a:ext cx="6462712" cy="4189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609600" y="1795464"/>
            <a:ext cx="4141304" cy="418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C4122F"/>
              </a:buClr>
              <a:buSzPts val="2400"/>
              <a:buChar char="•"/>
              <a:defRPr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20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800"/>
              <a:buChar char="▪"/>
              <a:defRPr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o"/>
              <a:defRPr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C4122F"/>
              </a:buClr>
              <a:buSzPts val="16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6"/>
          <p:cNvSpPr/>
          <p:nvPr>
            <p:ph idx="2" type="pic"/>
          </p:nvPr>
        </p:nvSpPr>
        <p:spPr>
          <a:xfrm>
            <a:off x="5119688" y="1795463"/>
            <a:ext cx="6462712" cy="41894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21111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AB162B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AB162B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609600" y="1234967"/>
            <a:ext cx="11582400" cy="45719"/>
          </a:xfrm>
          <a:prstGeom prst="rect">
            <a:avLst/>
          </a:prstGeom>
          <a:solidFill>
            <a:srgbClr val="AB16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ed letter w on a black background&#10;&#10;Description automatically generated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74628" y="6237513"/>
            <a:ext cx="1131217" cy="36576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n0zbZ3jEAMEgabTA69Fv54oB78vcYBWU/view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609600" y="2453372"/>
            <a:ext cx="9478200" cy="19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200"/>
              <a:t>Deep RL for 3D Navigation</a:t>
            </a:r>
            <a:endParaRPr sz="26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2600"/>
              <a:t>DS-551 Final Project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2300"/>
              <a:t>Prof. Navid Dadkhah Terani </a:t>
            </a:r>
            <a:endParaRPr sz="2300"/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609600" y="4591957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Hongchao Hu, Niyati Gohil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4348480" y="60655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DQN / DDQN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5484"/>
              <a:buFont typeface="Arial"/>
              <a:buNone/>
            </a:pPr>
            <a:r>
              <a:t/>
            </a:r>
            <a:endParaRPr b="1" sz="3100">
              <a:solidFill>
                <a:schemeClr val="dk1"/>
              </a:solidFill>
            </a:endParaRPr>
          </a:p>
          <a:p>
            <a:pPr indent="-3663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Two value-based baselines for fair comparison</a:t>
            </a:r>
            <a:endParaRPr sz="3100">
              <a:solidFill>
                <a:schemeClr val="dk1"/>
              </a:solidFill>
            </a:endParaRPr>
          </a:p>
          <a:p>
            <a:pPr indent="-366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Both use CNN policy with 4-frame stacking to address partial observability</a:t>
            </a:r>
            <a:endParaRPr sz="3100">
              <a:solidFill>
                <a:schemeClr val="dk1"/>
              </a:solidFill>
            </a:endParaRPr>
          </a:p>
          <a:p>
            <a:pPr indent="-366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Both are implemented with Stable-Baselines3 DQN in this project (no custom algorithm code)</a:t>
            </a:r>
            <a:endParaRPr sz="3100">
              <a:solidFill>
                <a:schemeClr val="dk1"/>
              </a:solidFill>
            </a:endParaRPr>
          </a:p>
          <a:p>
            <a:pPr indent="-366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Shared tuning: learning rate 1e-4, replay buffer 100,000, batch size 32, gamma 0.99</a:t>
            </a:r>
            <a:endParaRPr sz="3100">
              <a:solidFill>
                <a:schemeClr val="dk1"/>
              </a:solidFill>
            </a:endParaRPr>
          </a:p>
          <a:p>
            <a:pPr indent="-366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Update setup: target update interval 1,000, train frequency 4, learning starts 10,000</a:t>
            </a:r>
            <a:endParaRPr sz="3100">
              <a:solidFill>
                <a:schemeClr val="dk1"/>
              </a:solidFill>
            </a:endParaRPr>
          </a:p>
          <a:p>
            <a:pPr indent="-366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Exploration schedule: epsilon 1.0 to 0.05 over 30% of training</a:t>
            </a:r>
            <a:endParaRPr sz="3100">
              <a:solidFill>
                <a:schemeClr val="dk1"/>
              </a:solidFill>
            </a:endParaRPr>
          </a:p>
          <a:p>
            <a:pPr indent="-366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Training budget: 1,000,000 timesteps per model</a:t>
            </a:r>
            <a:endParaRPr sz="3100">
              <a:solidFill>
                <a:schemeClr val="dk1"/>
              </a:solidFill>
            </a:endParaRPr>
          </a:p>
          <a:p>
            <a:pPr indent="-366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Evaluation every 25,000 steps, with periodic checkpoints every 250,000 steps</a:t>
            </a:r>
            <a:endParaRPr sz="3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PPO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5484"/>
              <a:buFont typeface="Arial"/>
              <a:buNone/>
            </a:pPr>
            <a:r>
              <a:t/>
            </a:r>
            <a:endParaRPr b="1"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Policy-based approach using the same CNN + 4-frame stacking input for fair comparison</a:t>
            </a:r>
            <a:endParaRPr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Uses rollout-based policy optimization, which is robust for sparse-reward navigation</a:t>
            </a:r>
            <a:endParaRPr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Tuned with: learning rate 2.5e-4, n_steps 256, batch size 512, epochs 4</a:t>
            </a:r>
            <a:endParaRPr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Stability settings: gamma 0.99, GAE lambda 0.97, clip range 0.2, entropy coef 0.01</a:t>
            </a:r>
            <a:endParaRPr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Parallel data collection with 8 environments to improve sample diversity</a:t>
            </a:r>
            <a:endParaRPr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Training budget: 1,000,000 timesteps</a:t>
            </a:r>
            <a:endParaRPr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Evaluated every 25,000 steps, with periodic checkpoints every 100,000 steps</a:t>
            </a:r>
            <a:endParaRPr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Best checkpoint is selected from evaluation logs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/>
              <a:t>Training Setup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fontScale="775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Episode horizon fixed at 250 steps to match the assignment requirement</a:t>
            </a:r>
            <a:endParaRPr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Sparse reward design: zero reward during normal movement, positive reward only when the agent reaches the red box</a:t>
            </a:r>
            <a:endParaRPr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Partial observability handling: 4-frame stacking for all methods</a:t>
            </a:r>
            <a:endParaRPr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Consistent preprocessing and reward wrapper across PPO, DQN, and DDQN baseline for fair comparison</a:t>
            </a:r>
            <a:endParaRPr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Device selection supports CPU/GPU with the same training pipeline structure</a:t>
            </a:r>
            <a:endParaRPr sz="3100">
              <a:solidFill>
                <a:schemeClr val="dk1"/>
              </a:solidFill>
            </a:endParaRPr>
          </a:p>
          <a:p>
            <a:pPr indent="-3811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Pipeline stages: periodic checkpointing, checkpoint-based evaluation, final model evaluation, plot generation, and simulation video rendering</a:t>
            </a:r>
            <a:endParaRPr sz="3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fontScale="70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5484"/>
              <a:buFont typeface="Arial"/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5484"/>
              <a:buFont typeface="Arial"/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  <a:p>
            <a:pPr indent="-3663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Measured three primary metrics: mean return, success rate, and mean steps per episode</a:t>
            </a:r>
            <a:endParaRPr sz="3100">
              <a:solidFill>
                <a:schemeClr val="dk1"/>
              </a:solidFill>
            </a:endParaRPr>
          </a:p>
          <a:p>
            <a:pPr indent="-366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Logged periodic evaluation checkpoints (eval_freq set to 25,000; equivalent to larger timestep intervals for vectorized PPO).</a:t>
            </a:r>
            <a:endParaRPr sz="3100">
              <a:solidFill>
                <a:schemeClr val="dk1"/>
              </a:solidFill>
            </a:endParaRPr>
          </a:p>
          <a:p>
            <a:pPr indent="-366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Saved best-performing checkpoint automatically based on mean evaluation reward</a:t>
            </a:r>
            <a:endParaRPr sz="3100">
              <a:solidFill>
                <a:schemeClr val="dk1"/>
              </a:solidFill>
            </a:endParaRPr>
          </a:p>
          <a:p>
            <a:pPr indent="-366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Generated a unified summary file and plots for cross-method comparison</a:t>
            </a:r>
            <a:endParaRPr sz="3100">
              <a:solidFill>
                <a:schemeClr val="dk1"/>
              </a:solidFill>
            </a:endParaRPr>
          </a:p>
          <a:p>
            <a:pPr indent="-366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100">
                <a:solidFill>
                  <a:schemeClr val="dk1"/>
                </a:solidFill>
              </a:rPr>
              <a:t>Used final saved model evaluations and checkpoint trends to analyze relative performance</a:t>
            </a:r>
            <a:endParaRPr sz="3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275" y="1438250"/>
            <a:ext cx="8823449" cy="492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/>
              <a:t>Final Performance 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DQN/DDQN vs. PPO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graphicFrame>
        <p:nvGraphicFramePr>
          <p:cNvPr id="141" name="Google Shape;141;p24"/>
          <p:cNvGraphicFramePr/>
          <p:nvPr/>
        </p:nvGraphicFramePr>
        <p:xfrm>
          <a:off x="609600" y="2557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{2114393F-59A6-4434-BD50-E4BFA11A8294}</a:tableStyleId>
              </a:tblPr>
              <a:tblGrid>
                <a:gridCol w="2571625"/>
                <a:gridCol w="1699625"/>
                <a:gridCol w="3443625"/>
                <a:gridCol w="3443625"/>
              </a:tblGrid>
              <a:tr h="700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dk1"/>
                          </a:solidFill>
                        </a:rPr>
                        <a:t>Metric</a:t>
                      </a:r>
                      <a:endParaRPr b="1"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dk1"/>
                          </a:solidFill>
                        </a:rPr>
                        <a:t>DQN</a:t>
                      </a:r>
                      <a:endParaRPr b="1"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dk1"/>
                          </a:solidFill>
                        </a:rPr>
                        <a:t>DDQN</a:t>
                      </a:r>
                      <a:endParaRPr b="1"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dk1"/>
                          </a:solidFill>
                        </a:rPr>
                        <a:t>PPO</a:t>
                      </a:r>
                      <a:endParaRPr b="1"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</a:rPr>
                        <a:t>Mean Return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</a:rPr>
                        <a:t>0.0331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</a:rPr>
                        <a:t>0.0000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</a:rPr>
                        <a:t>0.3544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</a:rPr>
                        <a:t>Success Rate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</a:rPr>
                        <a:t>3.33%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</a:rPr>
                        <a:t>0.00%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</a:rPr>
                        <a:t>36.67%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</a:rPr>
                        <a:t>Mean Steps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</a:rPr>
                        <a:t>241.93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</a:rPr>
                        <a:t>250.00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dk1"/>
                          </a:solidFill>
                        </a:rPr>
                        <a:t>173.63</a:t>
                      </a:r>
                      <a:endParaRPr sz="210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57150" marL="57150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42" name="Google Shape;142;p24"/>
          <p:cNvSpPr txBox="1"/>
          <p:nvPr/>
        </p:nvSpPr>
        <p:spPr>
          <a:xfrm>
            <a:off x="7264900" y="-988650"/>
            <a:ext cx="1052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7262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609600" y="363090"/>
            <a:ext cx="10972800" cy="8001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Agent in Action</a:t>
            </a:r>
            <a:endParaRPr/>
          </a:p>
        </p:txBody>
      </p:sp>
      <p:pic>
        <p:nvPicPr>
          <p:cNvPr id="149" name="Google Shape;149;p25" title="ppo_ppo_ppo_refstyle_v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1688" y="1524000"/>
            <a:ext cx="6688625" cy="50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ctrTitle"/>
          </p:nvPr>
        </p:nvSpPr>
        <p:spPr>
          <a:xfrm>
            <a:off x="609600" y="2836309"/>
            <a:ext cx="9144000" cy="1524000"/>
          </a:xfrm>
          <a:prstGeom prst="rect">
            <a:avLst/>
          </a:prstGeom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156" name="Google Shape;156;p26"/>
          <p:cNvSpPr txBox="1"/>
          <p:nvPr/>
        </p:nvSpPr>
        <p:spPr>
          <a:xfrm>
            <a:off x="554375" y="617100"/>
            <a:ext cx="4089600" cy="17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72626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PI-White">
  <a:themeElements>
    <a:clrScheme name="Custom 56">
      <a:dk1>
        <a:srgbClr val="000000"/>
      </a:dk1>
      <a:lt1>
        <a:srgbClr val="FFFFFF"/>
      </a:lt1>
      <a:dk2>
        <a:srgbClr val="6D6D6D"/>
      </a:dk2>
      <a:lt2>
        <a:srgbClr val="AB192D"/>
      </a:lt2>
      <a:accent1>
        <a:srgbClr val="AB192D"/>
      </a:accent1>
      <a:accent2>
        <a:srgbClr val="B2B7BB"/>
      </a:accent2>
      <a:accent3>
        <a:srgbClr val="2C6A8C"/>
      </a:accent3>
      <a:accent4>
        <a:srgbClr val="B7A079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